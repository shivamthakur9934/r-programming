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25" r:id="rId5"/>
    <p:sldId id="326" r:id="rId6"/>
    <p:sldId id="259" r:id="rId7"/>
    <p:sldId id="257" r:id="rId8"/>
    <p:sldId id="261" r:id="rId9"/>
    <p:sldId id="258" r:id="rId10"/>
    <p:sldId id="264" r:id="rId11"/>
    <p:sldId id="265" r:id="rId12"/>
    <p:sldId id="34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04F4FC-1B9E-4AE6-B1A0-EEDD093EF72B}" v="43" dt="2026-04-29T08:50:19.551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0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dram kumar" userId="bb49a278f36cfa57" providerId="LiveId" clId="{1A057313-A1C3-4D01-96FF-25582C3707BC}"/>
    <pc:docChg chg="undo custSel addSld delSld modSld">
      <pc:chgData name="Sundram kumar" userId="bb49a278f36cfa57" providerId="LiveId" clId="{1A057313-A1C3-4D01-96FF-25582C3707BC}" dt="2026-04-29T08:50:19.533" v="78"/>
      <pc:docMkLst>
        <pc:docMk/>
      </pc:docMkLst>
      <pc:sldChg chg="addSp delSp modSp mod modTransition delAnim modAnim">
        <pc:chgData name="Sundram kumar" userId="bb49a278f36cfa57" providerId="LiveId" clId="{1A057313-A1C3-4D01-96FF-25582C3707BC}" dt="2026-04-29T08:50:19.533" v="78"/>
        <pc:sldMkLst>
          <pc:docMk/>
          <pc:sldMk cId="435195399" sldId="257"/>
        </pc:sldMkLst>
        <pc:picChg chg="add del mod">
          <ac:chgData name="Sundram kumar" userId="bb49a278f36cfa57" providerId="LiveId" clId="{1A057313-A1C3-4D01-96FF-25582C3707BC}" dt="2026-04-29T08:50:19.533" v="78"/>
          <ac:picMkLst>
            <pc:docMk/>
            <pc:sldMk cId="435195399" sldId="257"/>
            <ac:picMk id="18" creationId="{D85D91AD-D3DB-AB98-69EA-9F31C855CF8E}"/>
          </ac:picMkLst>
        </pc:picChg>
      </pc:sldChg>
      <pc:sldChg chg="addSp delSp modSp mod modTransition delAnim modAnim">
        <pc:chgData name="Sundram kumar" userId="bb49a278f36cfa57" providerId="LiveId" clId="{1A057313-A1C3-4D01-96FF-25582C3707BC}" dt="2026-04-29T08:50:19.533" v="78"/>
        <pc:sldMkLst>
          <pc:docMk/>
          <pc:sldMk cId="3058085568" sldId="258"/>
        </pc:sldMkLst>
        <pc:picChg chg="add del mod">
          <ac:chgData name="Sundram kumar" userId="bb49a278f36cfa57" providerId="LiveId" clId="{1A057313-A1C3-4D01-96FF-25582C3707BC}" dt="2026-04-29T08:50:19.533" v="78"/>
          <ac:picMkLst>
            <pc:docMk/>
            <pc:sldMk cId="3058085568" sldId="258"/>
            <ac:picMk id="18" creationId="{C8E3B8ED-4E48-6CE4-2236-673FA51708AF}"/>
          </ac:picMkLst>
        </pc:picChg>
      </pc:sldChg>
      <pc:sldChg chg="addSp delSp modSp mod modTransition delAnim modAnim">
        <pc:chgData name="Sundram kumar" userId="bb49a278f36cfa57" providerId="LiveId" clId="{1A057313-A1C3-4D01-96FF-25582C3707BC}" dt="2026-04-29T08:50:19.533" v="78"/>
        <pc:sldMkLst>
          <pc:docMk/>
          <pc:sldMk cId="1008037533" sldId="259"/>
        </pc:sldMkLst>
        <pc:picChg chg="add del mod">
          <ac:chgData name="Sundram kumar" userId="bb49a278f36cfa57" providerId="LiveId" clId="{1A057313-A1C3-4D01-96FF-25582C3707BC}" dt="2026-04-29T08:50:19.533" v="78"/>
          <ac:picMkLst>
            <pc:docMk/>
            <pc:sldMk cId="1008037533" sldId="259"/>
            <ac:picMk id="26" creationId="{A962F129-E9EF-B090-B129-DC507D174FA9}"/>
          </ac:picMkLst>
        </pc:picChg>
      </pc:sldChg>
      <pc:sldChg chg="addSp delSp modSp mod modTransition delAnim modAnim">
        <pc:chgData name="Sundram kumar" userId="bb49a278f36cfa57" providerId="LiveId" clId="{1A057313-A1C3-4D01-96FF-25582C3707BC}" dt="2026-04-29T08:50:19.533" v="78"/>
        <pc:sldMkLst>
          <pc:docMk/>
          <pc:sldMk cId="3666674671" sldId="261"/>
        </pc:sldMkLst>
        <pc:picChg chg="add del mod">
          <ac:chgData name="Sundram kumar" userId="bb49a278f36cfa57" providerId="LiveId" clId="{1A057313-A1C3-4D01-96FF-25582C3707BC}" dt="2026-04-29T08:50:19.533" v="78"/>
          <ac:picMkLst>
            <pc:docMk/>
            <pc:sldMk cId="3666674671" sldId="261"/>
            <ac:picMk id="19" creationId="{20676016-9EBF-23A7-95AA-1CDD23665431}"/>
          </ac:picMkLst>
        </pc:picChg>
      </pc:sldChg>
      <pc:sldChg chg="addSp delSp modSp add del mod modTransition delAnim modAnim">
        <pc:chgData name="Sundram kumar" userId="bb49a278f36cfa57" providerId="LiveId" clId="{1A057313-A1C3-4D01-96FF-25582C3707BC}" dt="2026-04-29T08:50:19.533" v="78"/>
        <pc:sldMkLst>
          <pc:docMk/>
          <pc:sldMk cId="837402205" sldId="264"/>
        </pc:sldMkLst>
        <pc:picChg chg="add del mod">
          <ac:chgData name="Sundram kumar" userId="bb49a278f36cfa57" providerId="LiveId" clId="{1A057313-A1C3-4D01-96FF-25582C3707BC}" dt="2026-04-29T08:50:19.533" v="78"/>
          <ac:picMkLst>
            <pc:docMk/>
            <pc:sldMk cId="837402205" sldId="264"/>
            <ac:picMk id="20" creationId="{8835271E-C9BB-9BAC-289E-BC5213C48E07}"/>
          </ac:picMkLst>
        </pc:picChg>
      </pc:sldChg>
      <pc:sldChg chg="addSp delSp modSp mod modTransition delAnim modAnim">
        <pc:chgData name="Sundram kumar" userId="bb49a278f36cfa57" providerId="LiveId" clId="{1A057313-A1C3-4D01-96FF-25582C3707BC}" dt="2026-04-29T08:50:19.533" v="78"/>
        <pc:sldMkLst>
          <pc:docMk/>
          <pc:sldMk cId="729609147" sldId="265"/>
        </pc:sldMkLst>
        <pc:picChg chg="add del mod">
          <ac:chgData name="Sundram kumar" userId="bb49a278f36cfa57" providerId="LiveId" clId="{1A057313-A1C3-4D01-96FF-25582C3707BC}" dt="2026-04-29T08:50:19.533" v="78"/>
          <ac:picMkLst>
            <pc:docMk/>
            <pc:sldMk cId="729609147" sldId="265"/>
            <ac:picMk id="17" creationId="{E7D7090D-EAEA-7711-D2FC-5013EF5AADB6}"/>
          </ac:picMkLst>
        </pc:picChg>
      </pc:sldChg>
      <pc:sldChg chg="addSp delSp modSp mod modTransition delAnim modAnim">
        <pc:chgData name="Sundram kumar" userId="bb49a278f36cfa57" providerId="LiveId" clId="{1A057313-A1C3-4D01-96FF-25582C3707BC}" dt="2026-04-29T08:50:19.533" v="78"/>
        <pc:sldMkLst>
          <pc:docMk/>
          <pc:sldMk cId="855215445" sldId="325"/>
        </pc:sldMkLst>
        <pc:picChg chg="add del mod">
          <ac:chgData name="Sundram kumar" userId="bb49a278f36cfa57" providerId="LiveId" clId="{1A057313-A1C3-4D01-96FF-25582C3707BC}" dt="2026-04-29T08:50:19.533" v="78"/>
          <ac:picMkLst>
            <pc:docMk/>
            <pc:sldMk cId="855215445" sldId="325"/>
            <ac:picMk id="68" creationId="{C7E8E07F-F437-1CC7-7976-ADD005105501}"/>
          </ac:picMkLst>
        </pc:picChg>
      </pc:sldChg>
      <pc:sldChg chg="addSp delSp modSp mod modTransition delAnim modAnim">
        <pc:chgData name="Sundram kumar" userId="bb49a278f36cfa57" providerId="LiveId" clId="{1A057313-A1C3-4D01-96FF-25582C3707BC}" dt="2026-04-29T08:50:19.533" v="78"/>
        <pc:sldMkLst>
          <pc:docMk/>
          <pc:sldMk cId="2910866480" sldId="326"/>
        </pc:sldMkLst>
        <pc:picChg chg="add del mod">
          <ac:chgData name="Sundram kumar" userId="bb49a278f36cfa57" providerId="LiveId" clId="{1A057313-A1C3-4D01-96FF-25582C3707BC}" dt="2026-04-29T08:50:19.533" v="78"/>
          <ac:picMkLst>
            <pc:docMk/>
            <pc:sldMk cId="2910866480" sldId="326"/>
            <ac:picMk id="30" creationId="{F23C0034-2873-01D8-3A49-253EF50C1023}"/>
          </ac:picMkLst>
        </pc:picChg>
      </pc:sldChg>
      <pc:sldChg chg="addSp delSp modSp mod modTransition delAnim modAnim">
        <pc:chgData name="Sundram kumar" userId="bb49a278f36cfa57" providerId="LiveId" clId="{1A057313-A1C3-4D01-96FF-25582C3707BC}" dt="2026-04-29T08:50:19.533" v="78"/>
        <pc:sldMkLst>
          <pc:docMk/>
          <pc:sldMk cId="487522735" sldId="340"/>
        </pc:sldMkLst>
        <pc:picChg chg="add del mod">
          <ac:chgData name="Sundram kumar" userId="bb49a278f36cfa57" providerId="LiveId" clId="{1A057313-A1C3-4D01-96FF-25582C3707BC}" dt="2026-04-29T08:50:19.533" v="78"/>
          <ac:picMkLst>
            <pc:docMk/>
            <pc:sldMk cId="487522735" sldId="340"/>
            <ac:picMk id="28" creationId="{F55AA56F-58FD-A1A3-E6D3-C789DF407EB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00"/>
            <a:ext cx="10515600" cy="4023360"/>
          </a:xfrm>
        </p:spPr>
        <p:txBody>
          <a:bodyPr/>
          <a:lstStyle/>
          <a:p>
            <a:r>
              <a:rPr lang="en-US" dirty="0"/>
              <a:t>Impact of AI in Student Life: 2026 Insights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83255"/>
            <a:ext cx="9144000" cy="786063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Analyzing Trends, Usage Patterns, and Ethical Risks in Higher Education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39108022-ABA5-4873-B6D7-686EF3EB669A}"/>
              </a:ext>
            </a:extLst>
          </p:cNvPr>
          <p:cNvSpPr txBox="1">
            <a:spLocks/>
          </p:cNvSpPr>
          <p:nvPr/>
        </p:nvSpPr>
        <p:spPr>
          <a:xfrm>
            <a:off x="1524000" y="5747887"/>
            <a:ext cx="9144000" cy="7860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2400" b="0" i="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Presenter:</a:t>
            </a:r>
            <a:r>
              <a:rPr lang="en-IN" dirty="0"/>
              <a:t> [Gautam ,Amit ,Shivam]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815840" cy="347472"/>
          </a:xfrm>
        </p:spPr>
        <p:txBody>
          <a:bodyPr/>
          <a:lstStyle/>
          <a:p>
            <a:r>
              <a:rPr lang="en-IN" dirty="0"/>
              <a:t>Project Objective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7733382-03D3-526D-0F0A-B0F9829A5000}"/>
              </a:ext>
            </a:extLst>
          </p:cNvPr>
          <p:cNvSpPr txBox="1">
            <a:spLocks/>
          </p:cNvSpPr>
          <p:nvPr/>
        </p:nvSpPr>
        <p:spPr>
          <a:xfrm>
            <a:off x="1280160" y="1609344"/>
            <a:ext cx="5457524" cy="3977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r>
              <a:rPr lang="en-US" sz="2000" b="1" dirty="0"/>
              <a:t>Purpose</a:t>
            </a:r>
            <a:r>
              <a:rPr lang="en-US" sz="2000" b="1" dirty="0">
                <a:latin typeface="+mn-lt"/>
              </a:rPr>
              <a:t>:</a:t>
            </a:r>
            <a:r>
              <a:rPr lang="en-US" sz="2000" dirty="0">
                <a:latin typeface="+mn-lt"/>
              </a:rPr>
              <a:t> To visualize the rapid integration of Generative AI within student academic workflows.</a:t>
            </a:r>
          </a:p>
          <a:p>
            <a:r>
              <a:rPr lang="en-US" sz="2000" b="1" dirty="0"/>
              <a:t>Key Goals:</a:t>
            </a:r>
            <a:endParaRPr lang="en-US" sz="2000" dirty="0"/>
          </a:p>
          <a:p>
            <a:pPr lvl="1"/>
            <a:r>
              <a:rPr lang="en-US" sz="2000" dirty="0"/>
              <a:t>Track the </a:t>
            </a:r>
            <a:r>
              <a:rPr lang="en-US" sz="2000" b="1" dirty="0"/>
              <a:t>adoption rate</a:t>
            </a:r>
            <a:r>
              <a:rPr lang="en-US" sz="2000" dirty="0"/>
              <a:t> from 2024 to 2026.</a:t>
            </a:r>
          </a:p>
          <a:p>
            <a:pPr lvl="1"/>
            <a:r>
              <a:rPr lang="en-US" sz="2000" dirty="0"/>
              <a:t>Identify </a:t>
            </a:r>
            <a:r>
              <a:rPr lang="en-US" sz="2000" b="1" dirty="0"/>
              <a:t>primary use cases</a:t>
            </a:r>
            <a:r>
              <a:rPr lang="en-US" sz="2000" dirty="0"/>
              <a:t> ranging from concept explanation to wellbeing.</a:t>
            </a:r>
          </a:p>
          <a:p>
            <a:pPr lvl="1"/>
            <a:r>
              <a:rPr lang="en-US" sz="2000" dirty="0"/>
              <a:t>Highlight the </a:t>
            </a:r>
            <a:r>
              <a:rPr lang="en-US" sz="2000" b="1" dirty="0"/>
              <a:t>institutional gap</a:t>
            </a:r>
            <a:r>
              <a:rPr lang="en-US" sz="2000" dirty="0"/>
              <a:t> between student usage and formal policy/training.</a:t>
            </a:r>
          </a:p>
          <a:p>
            <a:pPr lvl="1"/>
            <a:r>
              <a:rPr lang="en-US" sz="2000" dirty="0"/>
              <a:t>Assess </a:t>
            </a:r>
            <a:r>
              <a:rPr lang="en-US" sz="2000" b="1" dirty="0"/>
              <a:t>ethical risks</a:t>
            </a:r>
            <a:r>
              <a:rPr lang="en-US" sz="2000" dirty="0"/>
              <a:t>, including the "Shadow Literacy" divide and fear of false accusations.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Close up of bubbles">
            <a:extLst>
              <a:ext uri="{FF2B5EF4-FFF2-40B4-BE49-F238E27FC236}">
                <a16:creationId xmlns:a16="http://schemas.microsoft.com/office/drawing/2014/main" id="{99058E17-80B3-F3F9-AF6A-0518C39D94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3" r="83"/>
          <a:stretch/>
        </p:blipFill>
        <p:spPr>
          <a:xfrm>
            <a:off x="0" y="0"/>
            <a:ext cx="12188952" cy="236829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6676" y="1029181"/>
            <a:ext cx="10515600" cy="1339115"/>
          </a:xfrm>
          <a:noFill/>
        </p:spPr>
        <p:txBody>
          <a:bodyPr anchor="ctr" anchorCtr="0">
            <a:noAutofit/>
          </a:bodyPr>
          <a:lstStyle/>
          <a:p>
            <a:r>
              <a:rPr lang="en-IN" sz="3200" dirty="0"/>
              <a:t>Technical Architecture (Libraries)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2550695"/>
            <a:ext cx="10515600" cy="3950689"/>
          </a:xfrm>
          <a:noFill/>
        </p:spPr>
        <p:txBody>
          <a:bodyPr>
            <a:normAutofit/>
          </a:bodyPr>
          <a:lstStyle/>
          <a:p>
            <a:r>
              <a:rPr lang="en-US" dirty="0"/>
              <a:t>To build this interactive analytical tool, the following R libraries were utilized: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shiny &amp; </a:t>
            </a:r>
            <a:r>
              <a:rPr lang="en-US" b="1" dirty="0" err="1"/>
              <a:t>shinydashboard</a:t>
            </a:r>
            <a:r>
              <a:rPr lang="en-US" b="1" dirty="0"/>
              <a:t>:</a:t>
            </a:r>
            <a:r>
              <a:rPr lang="en-US" dirty="0"/>
              <a:t> Core framework for the web interface and structured layout.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/>
              <a:t>plotly</a:t>
            </a:r>
            <a:r>
              <a:rPr lang="en-US" b="1" dirty="0"/>
              <a:t>:</a:t>
            </a:r>
            <a:r>
              <a:rPr lang="en-US" dirty="0"/>
              <a:t> For high-quality, interactive </a:t>
            </a:r>
            <a:r>
              <a:rPr lang="en-US" dirty="0" err="1"/>
              <a:t>Javascript</a:t>
            </a:r>
            <a:r>
              <a:rPr lang="en-US" dirty="0"/>
              <a:t>-based visualizations.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/>
              <a:t>tidyverse</a:t>
            </a:r>
            <a:r>
              <a:rPr lang="en-US" b="1" dirty="0"/>
              <a:t>:</a:t>
            </a:r>
            <a:r>
              <a:rPr lang="en-US" dirty="0"/>
              <a:t> Used for data manipulation, cleaning, and ggplot2 base logic.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/>
              <a:t>pacman</a:t>
            </a:r>
            <a:r>
              <a:rPr lang="en-US" b="1" dirty="0"/>
              <a:t>:</a:t>
            </a:r>
            <a:r>
              <a:rPr lang="en-US" dirty="0"/>
              <a:t> For streamlined dependency management and package loading.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DT &amp; </a:t>
            </a:r>
            <a:r>
              <a:rPr lang="en-US" b="1" dirty="0" err="1"/>
              <a:t>shinycssloaders</a:t>
            </a:r>
            <a:r>
              <a:rPr lang="en-US" b="1" dirty="0"/>
              <a:t>:</a:t>
            </a:r>
            <a:r>
              <a:rPr lang="en-US" dirty="0"/>
              <a:t> For interactive data tables and smooth loading animations.</a:t>
            </a:r>
          </a:p>
        </p:txBody>
      </p:sp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59" y="720213"/>
            <a:ext cx="10241280" cy="914400"/>
          </a:xfrm>
          <a:noFill/>
        </p:spPr>
        <p:txBody>
          <a:bodyPr anchor="b" anchorCtr="0"/>
          <a:lstStyle/>
          <a:p>
            <a:r>
              <a:rPr lang="en-IN" dirty="0"/>
              <a:t>Dashboard Overview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2638" y="5270051"/>
            <a:ext cx="8046720" cy="1413630"/>
          </a:xfrm>
          <a:noFill/>
        </p:spPr>
        <p:txBody>
          <a:bodyPr>
            <a:normAutofit/>
          </a:bodyPr>
          <a:lstStyle/>
          <a:p>
            <a:r>
              <a:rPr lang="en-US" b="1" dirty="0"/>
              <a:t>Key Metrics Displayed:</a:t>
            </a:r>
            <a:r>
              <a:rPr lang="en-US" dirty="0"/>
              <a:t> * </a:t>
            </a:r>
            <a:r>
              <a:rPr lang="en-US" b="1" dirty="0"/>
              <a:t>95%</a:t>
            </a:r>
            <a:r>
              <a:rPr lang="en-US" dirty="0"/>
              <a:t> Universal Adoption.</a:t>
            </a:r>
          </a:p>
          <a:p>
            <a:pPr lvl="1"/>
            <a:r>
              <a:rPr lang="en-US" b="1" dirty="0"/>
              <a:t>74%</a:t>
            </a:r>
            <a:r>
              <a:rPr lang="en-US" dirty="0"/>
              <a:t> Time Efficiency Gain.</a:t>
            </a:r>
          </a:p>
          <a:p>
            <a:pPr lvl="1"/>
            <a:r>
              <a:rPr lang="en-US" b="1" dirty="0"/>
              <a:t>36%</a:t>
            </a:r>
            <a:r>
              <a:rPr lang="en-US" dirty="0"/>
              <a:t> Formal Training Rate (indicating a significant literacy gap).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C0146A-C93C-D993-5DD1-2F9C4DBBA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263" y="1507901"/>
            <a:ext cx="9409471" cy="357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876" y="428408"/>
            <a:ext cx="10884248" cy="593558"/>
          </a:xfrm>
          <a:noFill/>
        </p:spPr>
        <p:txBody>
          <a:bodyPr/>
          <a:lstStyle/>
          <a:p>
            <a:r>
              <a:rPr lang="en-US" dirty="0"/>
              <a:t>The Rise of AI Adoption (Graph Analysis)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33532D-D381-DC81-AE4B-99F85A1676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3876" y="1410964"/>
            <a:ext cx="7280756" cy="4036071"/>
          </a:xfrm>
          <a:prstGeom prst="rect">
            <a:avLst/>
          </a:prstGeom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7E751EDB-3568-D4D7-25C8-8BD7C9659C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22367" y="1342993"/>
            <a:ext cx="384873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Exponential Growth: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General usage jumped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66% in 2024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95% in 2026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Assessment Integration: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of AI specifically for assessments followed a similar trajectory, reaching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94%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is no longer a "niche tool"; it is now a fundamental utility for nearly every student.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B1FD54-FA5E-D435-D57A-8C88025279A8}"/>
              </a:ext>
            </a:extLst>
          </p:cNvPr>
          <p:cNvSpPr txBox="1"/>
          <p:nvPr/>
        </p:nvSpPr>
        <p:spPr>
          <a:xfrm>
            <a:off x="3834063" y="5836033"/>
            <a:ext cx="2486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Courier New" panose="02070309020205020404" pitchFamily="49" charset="0"/>
              </a:rPr>
              <a:t>Adoption plot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272717"/>
            <a:ext cx="8229600" cy="673767"/>
          </a:xfrm>
          <a:noFill/>
        </p:spPr>
        <p:txBody>
          <a:bodyPr anchor="ctr" anchorCtr="0"/>
          <a:lstStyle/>
          <a:p>
            <a:r>
              <a:rPr lang="en-US" sz="2400" b="1" dirty="0"/>
              <a:t>Primary Use Cases &amp; Wellbeing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6C0621-40F1-5767-22A9-383157A50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15" y="946484"/>
            <a:ext cx="6292646" cy="490371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AF59B451-5DAD-3AF0-74C1-739DBF5C7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245" y="1903268"/>
            <a:ext cx="515210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Academic Tasks: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Explaining concepts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72%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Summarizing content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68%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lead the way.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Emerging Tools: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*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Companion Bots: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15% of students use AI to address loneliness.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24/7 Tutors: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is filling the gap for active recall and spaced repetition.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Transcription: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Shifting student focus from note-taking to active 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IN" dirty="0"/>
              <a:t>Key Results </a:t>
            </a:r>
            <a:endParaRPr lang="en-US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04376C9-96D8-2E30-C4DA-B5ECED8C1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968" y="2147274"/>
            <a:ext cx="1095675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Students report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74% increase in time efficiency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particularly in research and drafting.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Accessibility: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has leveled the playing field for accessibility but created a new "skills gap" in high-level AI prompt strategy.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While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60.2%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daily sentiment is positive regarding efficiency, a significant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39.8%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remains anxious about institutional trust and dependency.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747562"/>
          </a:xfrm>
          <a:noFill/>
        </p:spPr>
        <p:txBody>
          <a:bodyPr anchor="t" anchorCtr="0"/>
          <a:lstStyle/>
          <a:p>
            <a:r>
              <a:rPr lang="en-IN" b="1" dirty="0"/>
              <a:t>Conclusion 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CEE51C5-0A3C-D16F-3B49-8E19855E2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0160" y="1844842"/>
            <a:ext cx="925629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2026, AI adoption is near-universal (95%), but formal education is struggling to keep pace (36% training rate).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 to Action: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* Institutions must move from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reactive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proactive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policy-making.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should shift from "detecting AI" to "teaching AI literacy."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Reducing the "Fear of False Accusations" is critical for student mental health and academic integrity.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{96202F87-6A08-4609-8F18-5FD67ED3BF4B}TF51de1e5f-e0e8-4dd0-99f3-5b7584f7abdc7d30e886_win32-78d4aef5ad8e</Template>
  <TotalTime>135</TotalTime>
  <Words>487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Courier New</vt:lpstr>
      <vt:lpstr>Daytona Condensed Light</vt:lpstr>
      <vt:lpstr>Posterama</vt:lpstr>
      <vt:lpstr>Custom</vt:lpstr>
      <vt:lpstr>Impact of AI in Student Life: 2026 Insights</vt:lpstr>
      <vt:lpstr>Project Objective</vt:lpstr>
      <vt:lpstr>Technical Architecture (Libraries)</vt:lpstr>
      <vt:lpstr>Dashboard Overview</vt:lpstr>
      <vt:lpstr>The Rise of AI Adoption (Graph Analysis)</vt:lpstr>
      <vt:lpstr>Primary Use Cases &amp; Wellbeing</vt:lpstr>
      <vt:lpstr>Key Results </vt:lpstr>
      <vt:lpstr>Conclusion </vt:lpstr>
      <vt:lpstr>Thank you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Sundram kumar</dc:creator>
  <cp:lastModifiedBy>Sundram kumar</cp:lastModifiedBy>
  <cp:revision>1</cp:revision>
  <dcterms:created xsi:type="dcterms:W3CDTF">2026-04-23T15:46:54Z</dcterms:created>
  <dcterms:modified xsi:type="dcterms:W3CDTF">2026-04-29T08:50:30Z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